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E749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Blind Spots in
</a:t>
            </a:r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7D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Models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fixed your model so it stops missing known fraud. What about the fraud it's never seen?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C. Mott, Ph.D.  ·  Data Science &amp; AI Educator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Hook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607040" y="548640"/>
            <a:ext cx="1005840" cy="1005840"/>
          </a:xfrm>
          <a:prstGeom prst="ellipse">
            <a:avLst/>
          </a:prstGeom>
          <a:solidFill>
            <a:srgbClr val="0E7490">
              <a:alpha val="2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 Loan Applicants.</a:t>
            </a:r>
            <a:endParaRPr lang="en-US" sz="3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Question: Who Defaults?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loan portfolio, like most fraud and credit risk problems, is heavily imbalanced. Almost everyone pays.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10896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273552"/>
            <a:ext cx="2926080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9,400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60120" y="4356202"/>
            <a:ext cx="26517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loans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of the portfolio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06240" y="310896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06240" y="3273552"/>
            <a:ext cx="2926080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343400" y="4356202"/>
            <a:ext cx="26517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of the portfolio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589520" y="35661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 : 6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7589520" y="4434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ratio is the entire problem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“good loan” for every single applicant.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features. No machine learning. Just a guess.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05840" y="24688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1143000" y="4160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92240" y="24688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E87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6629400" y="4160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caught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51206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model. Two numbers. Only one of them tells you the truth.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CONFUSION MATRIX DOESN'T LIE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Did the 600 Defaults Go?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017520" y="2377440"/>
            <a:ext cx="3017520" cy="1737360"/>
          </a:xfrm>
          <a:prstGeom prst="roundRect">
            <a:avLst>
              <a:gd name="adj" fmla="val 3158"/>
            </a:avLst>
          </a:prstGeom>
          <a:solidFill>
            <a:srgbClr val="EAF5EA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17520" y="254203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9,400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017520" y="3291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0" y="3566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loan, correctly approved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2377440"/>
            <a:ext cx="3017520" cy="1737360"/>
          </a:xfrm>
          <a:prstGeom prst="roundRect">
            <a:avLst>
              <a:gd name="adj" fmla="val 3158"/>
            </a:avLst>
          </a:prstGeom>
          <a:solidFill>
            <a:srgbClr val="FEFBF0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254203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172200" y="3291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55080" y="3566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loan, wrongly declined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17520" y="4251960"/>
            <a:ext cx="3017520" cy="1737360"/>
          </a:xfrm>
          <a:prstGeom prst="roundRect">
            <a:avLst>
              <a:gd name="adj" fmla="val 3158"/>
            </a:avLst>
          </a:prstGeom>
          <a:solidFill>
            <a:srgbClr val="FDF0F0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441655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017520" y="5166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0400" y="5440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Default, missed entirely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4251960"/>
            <a:ext cx="3017520" cy="1737360"/>
          </a:xfrm>
          <a:prstGeom prst="roundRect">
            <a:avLst>
              <a:gd name="adj" fmla="val 3158"/>
            </a:avLst>
          </a:prstGeom>
          <a:solidFill>
            <a:srgbClr val="F1F1E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441655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172200" y="5166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55080" y="5440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Default, correctly caught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C0392B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82880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“That’s not a model.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That’s a liability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dressed up as a metric.”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Standard Fix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607040" y="548640"/>
            <a:ext cx="1005840" cy="1005840"/>
          </a:xfrm>
          <a:prstGeom prst="ellipse">
            <a:avLst/>
          </a:prstGeom>
          <a:solidFill>
            <a:srgbClr val="0E7490">
              <a:alpha val="20000"/>
            </a:srgbClr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PLAYBOOK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Fixes, In the Order You Should Try Them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468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 · FREE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7614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Weights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30632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parameter. Tells the model a missed default costs more than a false alarm. Zero data manipulation.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228600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2468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SECOND · TUNE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80560" y="27614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Tuning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80560" y="3246120"/>
            <a:ext cx="30632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is an assumption, not a law. Move the decision line to where recall and precision actually balance for your business.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28600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83880" y="2468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RESORT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183880" y="27614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83880" y="3246120"/>
            <a:ext cx="30632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new minority-class samples. Helpful, not magic — and only after the first two fixes are already in place.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CODE, BRIEFLY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 One-Line Fix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1920240"/>
          </a:xfrm>
          <a:prstGeom prst="roundRect">
            <a:avLst>
              <a:gd name="adj" fmla="val 2857"/>
            </a:avLst>
          </a:prstGeom>
          <a:solidFill>
            <a:srgbClr val="142238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19456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GradientBoostingClassifier(random_state=42)
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y_train, 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D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sample_weight=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compute_sample_weight(</a:t>
            </a:r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class_weight=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"balanced"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y=y_train))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10515600" cy="1737360"/>
          </a:xfrm>
          <a:prstGeom prst="roundRect">
            <a:avLst>
              <a:gd name="adj" fmla="val 3158"/>
            </a:avLst>
          </a:prstGeom>
          <a:solidFill>
            <a:srgbClr val="E4F3F5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370832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4681728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scale the loss function so errors on the minority class are penalized more heavily. The model sees 600 defaults as if they were roughly 9,400 — without adding or removing a single row of data.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vs. After, Same Test 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749040" cy="566928"/>
          </a:xfrm>
          <a:prstGeom prst="rect">
            <a:avLst/>
          </a:prstGeom>
          <a:solidFill>
            <a:srgbClr val="0A1628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3172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97680" y="2331720"/>
            <a:ext cx="1874520" cy="566928"/>
          </a:xfrm>
          <a:prstGeom prst="rect">
            <a:avLst/>
          </a:prstGeom>
          <a:solidFill>
            <a:srgbClr val="0A1628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233172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331720"/>
            <a:ext cx="1874520" cy="566928"/>
          </a:xfrm>
          <a:prstGeom prst="rect">
            <a:avLst/>
          </a:prstGeom>
          <a:solidFill>
            <a:srgbClr val="0A1628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3172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2331720"/>
            <a:ext cx="1600200" cy="566928"/>
          </a:xfrm>
          <a:prstGeom prst="rect">
            <a:avLst/>
          </a:prstGeom>
          <a:solidFill>
            <a:srgbClr val="0A1628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2331720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46920" y="2331720"/>
            <a:ext cx="1600200" cy="566928"/>
          </a:xfrm>
          <a:prstGeom prst="rect">
            <a:avLst/>
          </a:prstGeom>
          <a:solidFill>
            <a:srgbClr val="0A1628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0" y="2331720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898648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9864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A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(no fix)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2898648"/>
            <a:ext cx="1874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898648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2898648"/>
            <a:ext cx="1874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898648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720" y="2898648"/>
            <a:ext cx="1600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2898648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646920" y="2898648"/>
            <a:ext cx="1600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0" y="2898648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465576"/>
            <a:ext cx="3749040" cy="56692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465576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A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weights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297680" y="3465576"/>
            <a:ext cx="1874520" cy="56692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3465576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72200" y="3465576"/>
            <a:ext cx="1874520" cy="56692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3465576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046720" y="3465576"/>
            <a:ext cx="1600200" cy="56692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3465576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646920" y="3465576"/>
            <a:ext cx="1600200" cy="56692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0" y="3465576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0.901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4032504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03250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A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Threshold tuning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297680" y="4032504"/>
            <a:ext cx="1874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4840" y="4032504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72200" y="4032504"/>
            <a:ext cx="1874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4032504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046720" y="4032504"/>
            <a:ext cx="1600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83880" y="4032504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646920" y="4032504"/>
            <a:ext cx="1600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84080" y="4032504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0.901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48640" y="4599432"/>
            <a:ext cx="3749040" cy="56692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59943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A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SMOTE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297680" y="4599432"/>
            <a:ext cx="1874520" cy="56692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34840" y="4599432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172200" y="4599432"/>
            <a:ext cx="1874520" cy="56692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4599432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8046720" y="4599432"/>
            <a:ext cx="1600200" cy="56692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83880" y="4599432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0.69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9646920" y="4599432"/>
            <a:ext cx="1600200" cy="56692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784080" y="4599432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0.897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48640" y="5394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highlighted in green is the sweet spot — threshold tuning on top of class weights.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7315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7D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468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868680" y="3794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600 defaults now caught — up from 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45262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went from 0% to 78% with three configuration changes. No new model. No new data.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Drops. Everything That Matters Goes Up.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542032"/>
            <a:ext cx="3200400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 → 87%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624682"/>
            <a:ext cx="29260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(down 7 points)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977640" y="237744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77640" y="2542032"/>
            <a:ext cx="3200400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 → 78%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114800" y="3624682"/>
            <a:ext cx="29260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 78 points)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06640" y="237744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06640" y="2542032"/>
            <a:ext cx="4206240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0.891 → 0.901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543800" y="3624682"/>
            <a:ext cx="3931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(barely moved)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EAF5EA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82803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 IS WORTH 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barely moves — the model's underlying ability to rank borrowers was always there. What changed is how we translated that ranking into a decision. That's the lesson: the fix wasn't a smarter model, it was using the model you already had more intelligently.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the Blind Spot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607040" y="548640"/>
            <a:ext cx="1005840" cy="1005840"/>
          </a:xfrm>
          <a:prstGeom prst="ellipse">
            <a:avLst/>
          </a:prstGeom>
          <a:solidFill>
            <a:srgbClr val="0E7490">
              <a:alpha val="20000"/>
            </a:srgbClr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UNCOMFORTABLE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Your Model Actually Know?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model learns from labels. It gets very good at recognizing patterns it has already seen labeled as fraud.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DF0F0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461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Its ceiling is the label.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catch a pattern that has never been labeled as fraud — no matter how well-tuned the threshold, no matter how balanced the classes.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800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the day a genuinely new fraud pattern shows up — one that looks nothing like any of your 600 labeled defaults?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Different Question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607040" y="548640"/>
            <a:ext cx="1005840" cy="1005840"/>
          </a:xfrm>
          <a:prstGeom prst="ellipse">
            <a:avLst/>
          </a:prstGeom>
          <a:solidFill>
            <a:srgbClr val="0E7490">
              <a:alpha val="20000"/>
            </a:srgbClr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UNSUPERVISED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Labels. No Target Variable. Just: What's Different?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468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7614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Forest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30632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borrowers that are easy to isolate globally — unusual across the entire portfolio.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228600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2468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80560" y="27614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Outlier Factor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80560" y="3246120"/>
            <a:ext cx="30632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borrowers unusual relative to their local neighbors — catches anomalies hidden within subgroups.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28600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83880" y="2468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183880" y="27614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One-Class SVM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83880" y="3246120"/>
            <a:ext cx="30632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boundary around normal borrowers and flags anything that falls outside it.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7D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Isolation Forest, LOF, and One-Class SVM on all 24,977 LendingClub borrowers — with bad_loan set completely aside.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4663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switch to screen share 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Payoff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607040" y="548640"/>
            <a:ext cx="1005840" cy="1005840"/>
          </a:xfrm>
          <a:prstGeom prst="ellipse">
            <a:avLst/>
          </a:prstGeom>
          <a:solidFill>
            <a:srgbClr val="0E7490">
              <a:alpha val="20000"/>
            </a:srgbClr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Two Independent Methods Agree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542032"/>
            <a:ext cx="2606040" cy="11567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14.3%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681374"/>
            <a:ext cx="2331720" cy="736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by BOTH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 borrowers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23774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2542032"/>
            <a:ext cx="2606040" cy="11567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10.8%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20440" y="3681374"/>
            <a:ext cx="2331720" cy="736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by ONE only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1,592 borrowers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3774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542032"/>
            <a:ext cx="2606040" cy="11567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13.2%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55080" y="3681374"/>
            <a:ext cx="2331720" cy="736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by NEITHER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22,932 borrowers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23774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2542032"/>
            <a:ext cx="2606040" cy="11567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89720" y="3681374"/>
            <a:ext cx="2331720" cy="736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average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24,977 borrowers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4F3F5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8737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18464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Borrowers flagged by only one method sit below the portfolio average — often benign outliers. Borrowers flagged by both methods exceed it. When two methods built on completely different logic agree, that convergence is a signal worth investigating.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Unusual ≠ Risky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607040" y="548640"/>
            <a:ext cx="1005840" cy="1005840"/>
          </a:xfrm>
          <a:prstGeom prst="ellipse">
            <a:avLst/>
          </a:prstGeom>
          <a:solidFill>
            <a:srgbClr val="0E7490">
              <a:alpha val="20000"/>
            </a:srgbClr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5544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E87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1508760" y="3246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760720" y="228600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20 most anomalous borrowers in the entire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— the ones the models were most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about — only 4 actually defaulted.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760720" y="44348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is not the same statement as risky.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CATEGORIES, SAME FLAG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Analyst Has to Determine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64240" cy="1234440"/>
          </a:xfrm>
          <a:prstGeom prst="roundRect">
            <a:avLst>
              <a:gd name="adj" fmla="val 3704"/>
            </a:avLst>
          </a:prstGeom>
          <a:solidFill>
            <a:srgbClr val="FDF0F0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42316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242316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Genuinely risky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212080" y="2423160"/>
            <a:ext cx="6172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$14,208 · DTI 65.12 · Rate 30.89% · FICO 664 · Bad loan: YES. Every feature signals distress — the model was right to flag this one.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11064240" cy="1234440"/>
          </a:xfrm>
          <a:prstGeom prst="roundRect">
            <a:avLst>
              <a:gd name="adj" fmla="val 3704"/>
            </a:avLst>
          </a:prstGeom>
          <a:solidFill>
            <a:srgbClr val="EAF5EA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84048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384048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Benign outlier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12080" y="3840480"/>
            <a:ext cx="6172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$3,000,000 · DTI 2.39 · Rate 7.21% · FICO 749 · Bad loan: no. Ultra-wealthy borrower, modest loan, prime rate. Unusual, not risky.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64240" cy="1234440"/>
          </a:xfrm>
          <a:prstGeom prst="roundRect">
            <a:avLst>
              <a:gd name="adj" fmla="val 3704"/>
            </a:avLst>
          </a:prstGeom>
          <a:solidFill>
            <a:srgbClr val="FEFBF0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25780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525780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issue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12080" y="5257800"/>
            <a:ext cx="6172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$1,800 · DTI 999 · Rate 30.84% · FICO 729 · Bad loan: no. A DTI of 999 isn't real — this record needs investigation, not a credit decision.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TIERS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Anomalies Get the Same Response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291840" cy="658368"/>
          </a:xfrm>
          <a:prstGeom prst="rect">
            <a:avLst/>
          </a:prstGeom>
          <a:solidFill>
            <a:srgbClr val="FDF0F0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3172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Extreme (top 1%)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0" y="2331720"/>
            <a:ext cx="1645920" cy="65836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0" y="2331720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0" y="2331720"/>
            <a:ext cx="5760720" cy="65836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2331720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manual review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3291840" cy="658368"/>
          </a:xfrm>
          <a:prstGeom prst="rect">
            <a:avLst/>
          </a:prstGeom>
          <a:solidFill>
            <a:srgbClr val="FEFBF0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90088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(top 2%)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0" y="2990088"/>
            <a:ext cx="1645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2990088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0" y="2990088"/>
            <a:ext cx="5760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990088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review queue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48456"/>
            <a:ext cx="3291840" cy="658368"/>
          </a:xfrm>
          <a:prstGeom prst="rect">
            <a:avLst/>
          </a:prstGeom>
          <a:solidFill>
            <a:srgbClr val="FFF8DC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648456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 (top 5%)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40480" y="3648456"/>
            <a:ext cx="1645920" cy="65836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3648456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0" y="3648456"/>
            <a:ext cx="5760720" cy="65836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3648456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monitoring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306824"/>
            <a:ext cx="3291840" cy="658368"/>
          </a:xfrm>
          <a:prstGeom prst="rect">
            <a:avLst/>
          </a:prstGeom>
          <a:solidFill>
            <a:srgbClr val="F4F1EB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30682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Borderline (top 10%)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840480" y="4306824"/>
            <a:ext cx="1645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0" y="4306824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~1,250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0" y="4306824"/>
            <a:ext cx="5760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4306824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list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965192"/>
            <a:ext cx="3291840" cy="65836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965192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5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840480" y="4965192"/>
            <a:ext cx="1645920" cy="65836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0" y="496519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~22,500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0" y="4965192"/>
            <a:ext cx="5760720" cy="65836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4965192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processing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Framework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607040" y="548640"/>
            <a:ext cx="1005840" cy="1005840"/>
          </a:xfrm>
          <a:prstGeom prst="ellipse">
            <a:avLst/>
          </a:prstGeom>
          <a:solidFill>
            <a:srgbClr val="0E7490">
              <a:alpha val="20000"/>
            </a:srgbClr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Two-Layer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64240" cy="1554480"/>
          </a:xfrm>
          <a:prstGeom prst="roundRect">
            <a:avLst>
              <a:gd name="adj" fmla="val 3529"/>
            </a:avLst>
          </a:prstGeom>
          <a:solidFill>
            <a:srgbClr val="EAF5EA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SUPERVISED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Catches known patterns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63440" y="260604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weights, tuned thresholds, labeled fraud history. Fast, precise, blind to anything it hasn't seen before.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11064240" cy="1554480"/>
          </a:xfrm>
          <a:prstGeom prst="roundRect">
            <a:avLst>
              <a:gd name="adj" fmla="val 3529"/>
            </a:avLst>
          </a:prstGeom>
          <a:solidFill>
            <a:srgbClr val="E4F3F5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UNSUPERVISED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4526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Catches the unknown unknowns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434340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Forest, LOF, One-Class SVM. No labels needed — flags what doesn't fit, tiered by severity, reviewed by a human.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Fixing accuracy fixes what you can see.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layer catches what you can't.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8404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models are only as good as their labels. Unsupervised anomaly detection is how you find out what you don't know you're missing — before it becomes a pattern with a name.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E749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C. Mott, Ph.D.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james-mott.jimmott52.workers.dev  ·  linkedin.com/in/JamesCMott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50292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 for both tutorials this talk is built on is available at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james-mott.jimmott52.workers.dev/#tutorials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2026-07-14T16:38:25Z</dcterms:created>
  <dcterms:modified xsi:type="dcterms:W3CDTF">2026-07-14T16:38:25Z</dcterms:modified>
</cp:coreProperties>
</file>